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marketsandmarkets.com/Market-Reports/edge-computing-market-27257068.html" TargetMode="External"/><Relationship Id="rId3" Type="http://schemas.openxmlformats.org/officeDocument/2006/relationships/hyperlink" Target="https://www.idc.com/getdoc.jsp?containerId=US48345121" TargetMode="External"/><Relationship Id="rId4" Type="http://schemas.openxmlformats.org/officeDocument/2006/relationships/hyperlink" Target="https://www.gartner.com/en/newsroom/press-releases/2024-02-14-gartner-says-worldwide-edge-computing-market-to-reach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Autonomous Zero-Trust Edge for Cybersecurity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7C9CB"/>
                </a:solidFill>
                <a:latin typeface="Inter"/>
              </a:rPr>
              <a:t>Insecure IoT devices compromise Edge Computing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1 / 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Autonomous Zero Edge for Cybersecurity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7C9CB"/>
                </a:solidFill>
                <a:latin typeface="Inter"/>
              </a:rPr>
              <a:t>Trust Identity Orchestration drives Edge Computing growth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217420"/>
            <a:ext cx="3606800" cy="4183380"/>
          </a:xfrm>
          <a:prstGeom prst="roundRect">
            <a:avLst/>
          </a:prstGeom>
          <a:solidFill>
            <a:srgbClr val="1111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2217420"/>
            <a:ext cx="3606800" cy="25100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3B82F6"/>
                </a:solidFill>
                <a:latin typeface="Inter"/>
              </a:rPr>
              <a:t>2024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27448"/>
            <a:ext cx="3606800" cy="1673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C7C9CB"/>
                </a:solidFill>
                <a:latin typeface="Inter"/>
              </a:rPr>
              <a:t>Edge Computing market size (MarketsandMarkets, 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2600" y="2217420"/>
            <a:ext cx="3606800" cy="4183380"/>
          </a:xfrm>
          <a:prstGeom prst="roundRect">
            <a:avLst/>
          </a:prstGeom>
          <a:solidFill>
            <a:srgbClr val="1111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292600" y="2217420"/>
            <a:ext cx="3606800" cy="25100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3B82F6"/>
                </a:solidFill>
                <a:latin typeface="Inter"/>
              </a:rPr>
              <a:t>2020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2600" y="4727448"/>
            <a:ext cx="3606800" cy="1673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C7C9CB"/>
                </a:solidFill>
                <a:latin typeface="Inter"/>
              </a:rPr>
              <a:t>YoY growth rate (-2024)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28000" y="2217420"/>
            <a:ext cx="3606800" cy="4183380"/>
          </a:xfrm>
          <a:prstGeom prst="roundRect">
            <a:avLst/>
          </a:prstGeom>
          <a:solidFill>
            <a:srgbClr val="1111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128000" y="2217420"/>
            <a:ext cx="3606800" cy="25100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3B82F6"/>
                </a:solidFill>
                <a:latin typeface="Inter"/>
              </a:rPr>
              <a:t>2023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8000" y="4727448"/>
            <a:ext cx="3606800" cy="1673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C7C9CB"/>
                </a:solidFill>
                <a:latin typeface="Inter"/>
              </a:rPr>
              <a:t>IoT devices relying on Edge Computing (IDC, 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1127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9EA0A2"/>
                </a:solidFill>
                <a:latin typeface="Inter"/>
              </a:rPr>
              <a:t>Sources: </a:t>
            </a:r>
            <a:r>
              <a:rPr sz="800">
                <a:solidFill>
                  <a:srgbClr val="A78BFA"/>
                </a:solidFill>
                <a:latin typeface="Inter"/>
                <a:hlinkClick r:id="rId2"/>
              </a:rPr>
              <a:t>Edge Computing Market</a:t>
            </a:r>
            <a:r>
              <a:rPr sz="800">
                <a:solidFill>
                  <a:srgbClr val="9EA0A2"/>
                </a:solidFill>
                <a:latin typeface="Inter"/>
              </a:rPr>
              <a:t>  ·  </a:t>
            </a:r>
            <a:r>
              <a:rPr sz="800">
                <a:solidFill>
                  <a:srgbClr val="A78BFA"/>
                </a:solidFill>
                <a:latin typeface="Inter"/>
                <a:hlinkClick r:id="rId3"/>
              </a:rPr>
              <a:t>IoT Devices and Edge Computing</a:t>
            </a:r>
            <a:r>
              <a:rPr sz="800">
                <a:solidFill>
                  <a:srgbClr val="9EA0A2"/>
                </a:solidFill>
                <a:latin typeface="Inter"/>
              </a:rPr>
              <a:t>  ·  </a:t>
            </a:r>
            <a:r>
              <a:rPr sz="800">
                <a:solidFill>
                  <a:srgbClr val="A78BFA"/>
                </a:solidFill>
                <a:latin typeface="Inter"/>
                <a:hlinkClick r:id="rId4"/>
              </a:rPr>
              <a:t>Gartner Says Worldwide Edge Computing Market to Reach $15 Billion by 2024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2 /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Autonomous Zero-Trust Edge for Cybersecurity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7C9CB"/>
                </a:solidFill>
                <a:latin typeface="Inter"/>
              </a:rPr>
              <a:t>Decentralized identity orchestration for secure Edge Computing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3 /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8FAFC"/>
                </a:solidFill>
                <a:latin typeface="Inter"/>
              </a:rPr>
              <a:t>Slide 2 could not be exported.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EA0A2"/>
                </a:solidFill>
                <a:latin typeface="Inter"/>
              </a:rPr>
              <a:t>Reason: 'int' object is not iterable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4 /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Our Autonomous Zero-Trust Today for Cybersecurity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7C9CB"/>
                </a:solidFill>
                <a:latin typeface="Inter"/>
              </a:rPr>
              <a:t>Enabling secure Edge Computing with Trust Identity Orchestration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5 /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Autonomous Zero-Trust Edge for Cybersecurity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7C9CB"/>
                </a:solidFill>
                <a:latin typeface="Inter"/>
              </a:rPr>
              <a:t>Enabling sub-millisecond authentication in low-bandwidth Edge Computing environments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217420"/>
            <a:ext cx="11277600" cy="4183380"/>
          </a:xfrm>
          <a:prstGeom prst="roundRect">
            <a:avLst/>
          </a:prstGeom>
          <a:solidFill>
            <a:srgbClr val="1111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2217420"/>
            <a:ext cx="11277600" cy="25100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3B82F6"/>
                </a:solidFill>
                <a:latin typeface="Inter"/>
              </a:rPr>
              <a:t>1ms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27448"/>
            <a:ext cx="11277600" cy="1673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C7C9CB"/>
                </a:solidFill>
                <a:latin typeface="Inter"/>
              </a:rPr>
              <a:t>Authentication Latency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6 /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Autonomous Zero-Trust Scalability for Cybersecurity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7C9CB"/>
                </a:solidFill>
                <a:latin typeface="Inter"/>
              </a:rPr>
              <a:t>Enabling Edge Computing with decentralized identity orchestration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17420"/>
            <a:ext cx="11277600" cy="4183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7C9CB"/>
                </a:solidFill>
                <a:latin typeface="Inter"/>
              </a:rPr>
              <a:t>Our solution achieves scalability without a central authority, enabling Edge Computing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7 /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Our Autonomous Zero-Trust Today for Cybersecurity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7C9CB"/>
                </a:solidFill>
                <a:latin typeface="Inter"/>
              </a:rPr>
              <a:t>Enhancing Edge Computing security with continuous verification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217420"/>
            <a:ext cx="3606800" cy="4183380"/>
          </a:xfrm>
          <a:prstGeom prst="roundRect">
            <a:avLst/>
          </a:prstGeom>
          <a:solidFill>
            <a:srgbClr val="1111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2217420"/>
            <a:ext cx="360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8 /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8FAFC"/>
                </a:solidFill>
                <a:latin typeface="Inter"/>
              </a:rPr>
              <a:t>Slide 6 could not be exported.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EA0A2"/>
                </a:solidFill>
                <a:latin typeface="Inter"/>
              </a:rPr>
              <a:t>Reason: tuple index out of range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9 /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Industry Validation for Cybersecurity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10 /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Autonomous Zero Advantage for Cybersecurity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7C9CB"/>
                </a:solidFill>
                <a:latin typeface="Inter"/>
              </a:rPr>
              <a:t>Trust Identity Orchestration outperforms traditional security models in Edge Computing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11 /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Autonomous Zero Trust for Cybersecurity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7C9CB"/>
                </a:solidFill>
                <a:latin typeface="Inter"/>
              </a:rPr>
              <a:t>Achieving milestones in Edge Computing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17420"/>
            <a:ext cx="360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B82F6"/>
                </a:solidFill>
                <a:latin typeface="Inter"/>
              </a:rPr>
              <a:t>2022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20340"/>
            <a:ext cx="360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  <a:latin typeface="Inter"/>
              </a:rPr>
              <a:t>Prototype Development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06140"/>
            <a:ext cx="3606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7C9CB"/>
                </a:solidFill>
                <a:latin typeface="Inter"/>
              </a:rPr>
              <a:t>Completed Autonomous Zero-Trust Identity Orchestration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2600" y="2217420"/>
            <a:ext cx="360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B82F6"/>
                </a:solidFill>
                <a:latin typeface="Inter"/>
              </a:rPr>
              <a:t>2023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2600" y="2720340"/>
            <a:ext cx="360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  <a:latin typeface="Inter"/>
              </a:rPr>
              <a:t>Pilot Projects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2600" y="3406140"/>
            <a:ext cx="3606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7C9CB"/>
                </a:solidFill>
                <a:latin typeface="Inter"/>
              </a:rPr>
              <a:t>Initiated pilot projects for Edge Computing security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0" y="2217420"/>
            <a:ext cx="360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B82F6"/>
                </a:solidFill>
                <a:latin typeface="Inter"/>
              </a:rPr>
              <a:t>2024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8000" y="2720340"/>
            <a:ext cx="360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  <a:latin typeface="Inter"/>
              </a:rPr>
              <a:t>Milestone Achieved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8000" y="3406140"/>
            <a:ext cx="3606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7C9CB"/>
                </a:solidFill>
                <a:latin typeface="Inter"/>
              </a:rPr>
              <a:t>Successfully demonstrated Autonomous Zero-Trust Identity Orchestration in Edge Computing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12 / 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Autonomous Zero Founders for Cybersecurity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7C9CB"/>
                </a:solidFill>
                <a:latin typeface="Inter"/>
              </a:rPr>
              <a:t>Seasoned experts in Edge Computing security and Trust Identity Orchestration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13 /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8FAFC"/>
                </a:solidFill>
                <a:latin typeface="Inter"/>
              </a:rPr>
              <a:t>Slide 10 could not be exported.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EA0A2"/>
                </a:solidFill>
                <a:latin typeface="Inter"/>
              </a:rPr>
              <a:t>Reason: 'int' object is not iterable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14 /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Autonomous Zero Growth for Cybersecurity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7C9CB"/>
                </a:solidFill>
                <a:latin typeface="Inter"/>
              </a:rPr>
              <a:t>Scaling Edge Computing with Efficient Expenses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15 /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8FAFC"/>
                </a:solidFill>
                <a:latin typeface="Inter"/>
              </a:rPr>
              <a:t>Slide 11 could not be exported.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EA0A2"/>
                </a:solidFill>
                <a:latin typeface="Inter"/>
              </a:rPr>
              <a:t>Reason: 'int' object is not iterable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16 /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Autonomous Zero Funding for Cybersecurity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7C9CB"/>
                </a:solidFill>
                <a:latin typeface="Inter"/>
              </a:rPr>
              <a:t>Accelerating Edge Computing security through Trust Identity Orchestration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217420"/>
            <a:ext cx="11277600" cy="4183380"/>
          </a:xfrm>
          <a:prstGeom prst="roundRect">
            <a:avLst/>
          </a:prstGeom>
          <a:solidFill>
            <a:srgbClr val="1111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2217420"/>
            <a:ext cx="11277600" cy="25100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3B82F6"/>
                </a:solidFill>
                <a:latin typeface="Inter"/>
              </a:rPr>
              <a:t>2X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27448"/>
            <a:ext cx="11277600" cy="1673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C7C9CB"/>
                </a:solidFill>
                <a:latin typeface="Inter"/>
              </a:rPr>
              <a:t>Growth acceleration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17 /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Autonomous Zero Investment for Cybersecurity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7C9CB"/>
                </a:solidFill>
                <a:latin typeface="Inter"/>
              </a:rPr>
              <a:t>Unlocking Edge Computing growth with Trust Identity Orchestration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18 / 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Autonomous Zero-Trust Edge for Cybersecurity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7C9CB"/>
                </a:solidFill>
                <a:latin typeface="Inter"/>
              </a:rPr>
              <a:t>Expertly navigating the future of decentralized identity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19 / 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Autonomous Zero-Trust Identity Orchestration for Edge Computing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