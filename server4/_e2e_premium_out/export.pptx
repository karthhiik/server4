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7C3AED"/>
            </a:solidFill>
          </c:spPr>
          <c:cat>
            <c:strRef>
              <c:f>Sheet1!$A$2:$A$2</c:f>
              <c:strCache>
                <c:ptCount val="1"/>
                <c:pt idx="0">
                  <c:v>Manual Process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audience and make the next conversation obvious.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Finance teams waste days on manual data entry from inconsistent PDFs. This creates payment delays and exposes companies to costly errors. Our solution automates this entire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solution overview for this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market for this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competition for this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have closed $480k in ARR across 38 paying customers, demonstrating clear product-market fit. Our 22% month-over-month revenue growth for the last six months shows strong, consistent demand.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ask for this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core benefit is time savings. We reduce the invoice processing cycle from an industry-standard 3 days to under 45 minutes. This is achieved through fully automated data capture, GL coding, and approval routing.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112776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F8FAFC"/>
                </a:solidFill>
                <a:latin typeface="Manrope"/>
              </a:rPr>
              <a:t>InvoiceIQ — AI invoice automation for mid-market finance teams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749039"/>
            <a:ext cx="1127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7C9CB"/>
                </a:solidFill>
                <a:latin typeface="Inter"/>
              </a:rPr>
              <a:t>We are ready for the next investor conversation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Manrope"/>
              </a:rPr>
              <a:t>InvoiceIQ: Inefficient Invoice Processing Costs Real 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Manual invoice workflows delay payments and increase operational risk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17420"/>
            <a:ext cx="3606800" cy="4183380"/>
          </a:xfrm>
          <a:prstGeom prst="roundRect">
            <a:avLst/>
          </a:prstGeom>
          <a:solidFill>
            <a:srgbClr val="070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217420"/>
            <a:ext cx="360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7C3AED"/>
                </a:solidFill>
                <a:latin typeface="Manrope"/>
              </a:rPr>
              <a:t>Old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8940"/>
            <a:ext cx="3606800" cy="3451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Inter"/>
              </a:rPr>
              <a:t>• Founder pedigree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Inter"/>
              </a:rPr>
              <a:t>• MVP demo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Inter"/>
              </a:rPr>
              <a:t>• Pilot logos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Inter"/>
              </a:rPr>
              <a:t>• TAM slide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Inter"/>
              </a:rPr>
              <a:t>• "We use AI"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2600" y="2217420"/>
            <a:ext cx="3606800" cy="4183380"/>
          </a:xfrm>
          <a:prstGeom prst="roundRect">
            <a:avLst/>
          </a:prstGeom>
          <a:solidFill>
            <a:srgbClr val="070E21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292600" y="2217420"/>
            <a:ext cx="360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2D3EE"/>
                </a:solidFill>
                <a:latin typeface="Manrope"/>
              </a:rPr>
              <a:t>What Matters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2600" y="2948940"/>
            <a:ext cx="3606800" cy="3451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Inter"/>
              </a:rPr>
              <a:t>• Proprietary data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Inter"/>
              </a:rPr>
              <a:t>• Revenue momentum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Inter"/>
              </a:rPr>
              <a:t>• Production deployments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Inter"/>
              </a:rPr>
              <a:t>• Gross-margin trajectory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Inter"/>
              </a:rPr>
              <a:t>• Compounding loops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8000" y="2217420"/>
            <a:ext cx="3606800" cy="4183380"/>
          </a:xfrm>
          <a:prstGeom prst="roundRect">
            <a:avLst/>
          </a:prstGeom>
          <a:solidFill>
            <a:srgbClr val="070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128000" y="2217420"/>
            <a:ext cx="360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7C3AED"/>
                </a:solidFill>
                <a:latin typeface="Manrope"/>
              </a:rPr>
              <a:t>InvoiceIQ — AI invoice automation for mid-market finance Must 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0" y="2948940"/>
            <a:ext cx="3606800" cy="3451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Inter"/>
              </a:rPr>
              <a:t>• Owned data advantage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Inter"/>
              </a:rPr>
              <a:t>• Live deployment evidence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Inter"/>
              </a:rPr>
              <a:t>• Revenue-quality path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Inter"/>
              </a:rPr>
              <a:t>• Repeatable learning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Manrope"/>
              </a:rPr>
              <a:t>InvoiceIQ: AI Extracts Invoice Data Automatically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37360"/>
            <a:ext cx="264795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7C3AED"/>
                </a:solidFill>
                <a:latin typeface="Manrope"/>
              </a:rPr>
              <a:t>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33750" y="1737360"/>
            <a:ext cx="264795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7C3AED"/>
                </a:solidFill>
                <a:latin typeface="Manrope"/>
              </a:rPr>
              <a:t>Automated data extraction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0300" y="1737360"/>
            <a:ext cx="264795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7C3AED"/>
                </a:solidFill>
                <a:latin typeface="Manrope"/>
              </a:rPr>
              <a:t>Real-time payment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6850" y="1737360"/>
            <a:ext cx="264795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7C3AED"/>
                </a:solidFill>
                <a:latin typeface="Manrope"/>
              </a:rPr>
              <a:t>Outcome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05150" y="2217420"/>
            <a:ext cx="228600" cy="320040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0">
                <a:solidFill>
                  <a:srgbClr val="FFFFFF"/>
                </a:solidFill>
                <a:latin typeface="Inter"/>
              </a:rPr>
              <a:t>then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81700" y="2217420"/>
            <a:ext cx="228600" cy="320040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0">
                <a:solidFill>
                  <a:srgbClr val="FFFFFF"/>
                </a:solidFill>
                <a:latin typeface="Inter"/>
              </a:rPr>
              <a:t>then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858250" y="2217420"/>
            <a:ext cx="228600" cy="320040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0">
                <a:solidFill>
                  <a:srgbClr val="FFFFFF"/>
                </a:solidFill>
                <a:latin typeface="Inter"/>
              </a:rPr>
              <a:t>then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Manrope"/>
              </a:rPr>
              <a:t>InvoiceIQ: Mid-Market AP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Growing demand for automation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217420"/>
          <a:ext cx="11277600" cy="4091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200"/>
                <a:gridCol w="3759200"/>
                <a:gridCol w="3759200"/>
              </a:tblGrid>
              <a:tr h="1022985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anrope"/>
                        </a:rPr>
                        <a:t>Claim Area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anrope"/>
                        </a:rPr>
                        <a:t>Evidence Standard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anrope"/>
                        </a:rPr>
                        <a:t>Allowed Source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10229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8FAFC"/>
                          </a:solidFill>
                          <a:latin typeface="Inter"/>
                        </a:rPr>
                        <a:t>Buyer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8FAFC"/>
                          </a:solidFill>
                          <a:latin typeface="Inter"/>
                        </a:rPr>
                        <a:t>Named ICP and budget 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8FAFC"/>
                          </a:solidFill>
                          <a:latin typeface="Inter"/>
                        </a:rPr>
                        <a:t>Founder/research source</a:t>
                      </a:r>
                    </a:p>
                  </a:txBody>
                  <a:tcPr/>
                </a:tc>
              </a:tr>
              <a:tr h="10229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8FAFC"/>
                          </a:solidFill>
                          <a:latin typeface="Inter"/>
                        </a:rPr>
                        <a:t>Urgency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8FAFC"/>
                          </a:solidFill>
                          <a:latin typeface="Inter"/>
                        </a:rPr>
                        <a:t>Workflow pain tied to time, cost, or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8FAFC"/>
                          </a:solidFill>
                          <a:latin typeface="Inter"/>
                        </a:rPr>
                        <a:t>Founder/source</a:t>
                      </a:r>
                    </a:p>
                  </a:txBody>
                  <a:tcPr/>
                </a:tc>
              </a:tr>
              <a:tr h="10229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8FAFC"/>
                          </a:solidFill>
                          <a:latin typeface="Inter"/>
                        </a:rPr>
                        <a:t>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8FAFC"/>
                          </a:solidFill>
                          <a:latin typeface="Inter"/>
                        </a:rPr>
                        <a:t>External citation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Manrope"/>
              </a:rPr>
              <a:t>InvoiceIQ vs. Leading AP Automation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5524500" cy="4937760"/>
          </a:xfrm>
          <a:prstGeom prst="roundRect">
            <a:avLst/>
          </a:prstGeom>
          <a:solidFill>
            <a:srgbClr val="070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5245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7C3AED"/>
                </a:solidFill>
                <a:latin typeface="Manrope"/>
              </a:rPr>
              <a:t>Generic Alternatives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55245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Inter"/>
              </a:rPr>
              <a:t>• Feature parity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Inter"/>
              </a:rPr>
              <a:t>• Services-heavy delivery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Inter"/>
              </a:rPr>
              <a:t>• Weak data loop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0300" y="1463040"/>
            <a:ext cx="5524500" cy="4937760"/>
          </a:xfrm>
          <a:prstGeom prst="roundRect">
            <a:avLst/>
          </a:prstGeom>
          <a:solidFill>
            <a:srgbClr val="070E21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210300" y="1463040"/>
            <a:ext cx="55245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2D3EE"/>
                </a:solidFill>
                <a:latin typeface="Manrope"/>
              </a:rPr>
              <a:t>Our Proof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0300" y="2194560"/>
            <a:ext cx="55245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Inter"/>
              </a:rPr>
              <a:t>• Owned data advantage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Inter"/>
              </a:rPr>
              <a:t>• Deployment evidence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Inter"/>
              </a:rPr>
              <a:t>• Compounding operating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Manrope"/>
              </a:rPr>
              <a:t>InvoiceIQ: Our Momentum and 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paying customers validate our AI invoice automation for finance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217420"/>
          <a:ext cx="11277600" cy="4091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200"/>
                <a:gridCol w="3759200"/>
                <a:gridCol w="3759200"/>
              </a:tblGrid>
              <a:tr h="1022985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anrope"/>
                        </a:rPr>
                        <a:t>Claim Area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anrope"/>
                        </a:rPr>
                        <a:t>Evidence Standard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anrope"/>
                        </a:rPr>
                        <a:t>Allowed Source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10229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8FAFC"/>
                          </a:solidFill>
                          <a:latin typeface="Inter"/>
                        </a:rPr>
                        <a:t>Usage proof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8FAFC"/>
                          </a:solidFill>
                          <a:latin typeface="Inter"/>
                        </a:rPr>
                        <a:t>Users, deployments, pilots, contracts, or LOIs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8FAFC"/>
                          </a:solidFill>
                          <a:latin typeface="Inter"/>
                        </a:rPr>
                        <a:t>Founder answer</a:t>
                      </a:r>
                    </a:p>
                  </a:txBody>
                  <a:tcPr/>
                </a:tc>
              </a:tr>
              <a:tr h="10229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8FAFC"/>
                          </a:solidFill>
                          <a:latin typeface="Inter"/>
                        </a:rPr>
                        <a:t>Learning loop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8FAFC"/>
                          </a:solidFill>
                          <a:latin typeface="Inter"/>
                        </a:rPr>
                        <a:t>Data or feedback that compounds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8FAFC"/>
                          </a:solidFill>
                          <a:latin typeface="Inter"/>
                        </a:rPr>
                        <a:t>Founder answer</a:t>
                      </a:r>
                    </a:p>
                  </a:txBody>
                  <a:tcPr/>
                </a:tc>
              </a:tr>
              <a:tr h="10229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8FAFC"/>
                          </a:solidFill>
                          <a:latin typeface="Inter"/>
                        </a:rPr>
                        <a:t>Next 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8FAFC"/>
                          </a:solidFill>
                          <a:latin typeface="Inter"/>
                        </a:rPr>
                        <a:t>Dated proof event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8FAFC"/>
                          </a:solidFill>
                          <a:latin typeface="Inter"/>
                        </a:rPr>
                        <a:t>Founder answer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Manrope"/>
              </a:rPr>
              <a:t>InvoiceIQ: Seed for -Month Runway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Invest in our 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17420"/>
            <a:ext cx="5524500" cy="4183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F8FAFC"/>
                </a:solidFill>
                <a:latin typeface="Inter"/>
              </a:rPr>
              <a:t>• Partner with us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F8FAFC"/>
                </a:solidFill>
                <a:latin typeface="Inter"/>
              </a:rPr>
              <a:t>• change the invoicing industry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Manrope"/>
              </a:rPr>
              <a:t>InvoiceIQ: Processing Time: 3 Days to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Our AI extracts, codes, and approves invoices automatically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2217420"/>
          <a:ext cx="11277600" cy="40919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InvoiceIQ Investor Pitch</dc:title>
  <dc:subject/>
  <dc:creator/>
  <cp:keywords/>
  <dc:description>InvoiceIQ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