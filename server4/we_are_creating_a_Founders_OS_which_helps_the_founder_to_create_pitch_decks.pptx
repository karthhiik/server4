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Founders OS is designed to empower founders in their journey. By leveraging real-time collaboration, we enable effective problem-solving and improve engagement with investors. Our platform addresses the common challenges faced by founders, particularly in creating compelling pitch decks. With the market projected to grow significantly, we are at the forefront of supporting startup success.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Startups leveraging Founders OS achieve a 30% higher success rate in securing funding. Digital tools play a crucial role in enhancing pitch deck creation, which directly impacts funding opportunities. As the Founders OS market grows at a 25% CAGR, we are positioned to support more entrepreneurs in their funding journeys.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60% of founders indicate that real-time collaboration tools improve their problem-solving skills. These tools facilitate immediate feedback on pitch decks, enabling founders to address challenges efficiently. By leveraging our platform, founders can enhance their engagement and effectiveness in tackling real-time issues.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shows that 45% of founders struggle with creating effective pitch decks. Founders OS addresses these challenges by providing iterative solutions that enhance the pitch deck creation process. Additionally, real-time collaboration tools significantly improve problem-solving capabilities, helping founders navigate their startup journey more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Founders OS market is projected to grow significantly, driven by the increasing demand for collaborative tools that assist founders in addressing real-time challenges. This growth reflects a shift in how startups engage with their investors and streamline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platform significantly enhances how founders engage with investors. By providing real-time feedback and collaborative tools, we help refine pitches, leading to a notable increase in investor interest. Founders using our OS report improved navigation through challenges, ultimately resulting in higher engagement and better outcomes.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Founders OS provides a platform that allows founders to rapidly iterate their pitch decks, addressing real-time challenges effectively. With collaborative tools, we enhance feedback loops, enabling continuous improvement and better engagement with investors. This approach directly tackles the common issues founders face when creating effective pitch decks.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platform creates a space for founders to connect and share resources. By fostering peer support, we empower founders to tackle challenges together. This collaborative environment not only enhances problem-solving but also strengthens their startups through shared knowledge and experiences.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Present case studies or testimonials for this pitch.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invite all founders to join the Founders OS revolution. Our platform is designed to address the unique challenges faced by startups. With collaborative tools, we enhance engagement and significantly improve funding success rates. Embrace the future of startup support with 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457200" y="2194560"/>
            <a:ext cx="11277600" cy="1463040"/>
          </a:xfrm>
          <a:prstGeom prst="rect">
            <a:avLst/>
          </a:prstGeom>
          <a:noFill/>
        </p:spPr>
        <p:txBody>
          <a:bodyPr wrap="square" anchor="ctr">
            <a:spAutoFit/>
          </a:bodyPr>
          <a:lstStyle/>
          <a:p>
            <a:pPr algn="ctr"/>
            <a:r>
              <a:rPr sz="4400" b="1">
                <a:solidFill>
                  <a:srgbClr val="F8FAFC"/>
                </a:solidFill>
                <a:latin typeface="Inter"/>
              </a:rPr>
              <a:t>Founders OS: Transforming Startup Engagement</a:t>
            </a:r>
          </a:p>
        </p:txBody>
      </p:sp>
      <p:sp>
        <p:nvSpPr>
          <p:cNvPr id="3" name="TextBox 2"/>
          <p:cNvSpPr txBox="1"/>
          <p:nvPr/>
        </p:nvSpPr>
        <p:spPr>
          <a:xfrm>
            <a:off x="457200" y="3749039"/>
            <a:ext cx="11277600" cy="822960"/>
          </a:xfrm>
          <a:prstGeom prst="rect">
            <a:avLst/>
          </a:prstGeom>
          <a:noFill/>
        </p:spPr>
        <p:txBody>
          <a:bodyPr wrap="square">
            <a:spAutoFit/>
          </a:bodyPr>
          <a:lstStyle/>
          <a:p>
            <a:pPr algn="ctr"/>
            <a:r>
              <a:rPr sz="2000" b="0">
                <a:solidFill>
                  <a:srgbClr val="C7C9CB"/>
                </a:solidFill>
                <a:latin typeface="Inter"/>
              </a:rPr>
              <a:t>Empowering founders to tackle real-time challenges effectively</a:t>
            </a:r>
          </a:p>
        </p:txBody>
      </p:sp>
      <p:sp>
        <p:nvSpPr>
          <p:cNvPr id="4" name="TextBox 3"/>
          <p:cNvSpPr txBox="1"/>
          <p:nvPr/>
        </p:nvSpPr>
        <p:spPr>
          <a:xfrm>
            <a:off x="914400" y="4663440"/>
            <a:ext cx="10363200" cy="1463040"/>
          </a:xfrm>
          <a:prstGeom prst="rect">
            <a:avLst/>
          </a:prstGeom>
          <a:noFill/>
        </p:spPr>
        <p:txBody>
          <a:bodyPr wrap="square">
            <a:spAutoFit/>
          </a:bodyPr>
          <a:lstStyle/>
          <a:p>
            <a:pPr algn="ctr"/>
            <a:r>
              <a:rPr sz="1400" b="0">
                <a:solidFill>
                  <a:srgbClr val="9EA0A2"/>
                </a:solidFill>
                <a:latin typeface="Inter"/>
              </a:rPr>
              <a:t>30% higher funding success with digital tools. 45% of founders struggle with pitch decks.</a:t>
            </a:r>
          </a:p>
        </p:txBody>
      </p:sp>
      <p:sp>
        <p:nvSpPr>
          <p:cNvPr id="5" name="TextBox 4"/>
          <p:cNvSpPr txBox="1"/>
          <p:nvPr/>
        </p:nvSpPr>
        <p:spPr>
          <a:xfrm>
            <a:off x="10820400" y="6492240"/>
            <a:ext cx="914400" cy="274320"/>
          </a:xfrm>
          <a:prstGeom prst="rect">
            <a:avLst/>
          </a:prstGeom>
          <a:noFill/>
        </p:spPr>
        <p:txBody>
          <a:bodyPr wrap="square">
            <a:spAutoFit/>
          </a:bodyPr>
          <a:lstStyle/>
          <a:p>
            <a:pPr algn="r"/>
            <a:r>
              <a:rPr sz="900" b="0">
                <a:solidFill>
                  <a:srgbClr val="9EA0A2"/>
                </a:solidFill>
                <a:latin typeface="Inter"/>
              </a:rP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457200" y="457200"/>
            <a:ext cx="11277600" cy="1005840"/>
          </a:xfrm>
          <a:prstGeom prst="rect">
            <a:avLst/>
          </a:prstGeom>
          <a:noFill/>
        </p:spPr>
        <p:txBody>
          <a:bodyPr wrap="square">
            <a:spAutoFit/>
          </a:bodyPr>
          <a:lstStyle/>
          <a:p>
            <a:r>
              <a:rPr sz="3200" b="1">
                <a:solidFill>
                  <a:srgbClr val="F8FAFC"/>
                </a:solidFill>
                <a:latin typeface="Inter"/>
              </a:rPr>
              <a:t>30% Higher Funding Success Rates</a:t>
            </a:r>
          </a:p>
        </p:txBody>
      </p:sp>
      <p:sp>
        <p:nvSpPr>
          <p:cNvPr id="3" name="TextBox 2"/>
          <p:cNvSpPr txBox="1"/>
          <p:nvPr/>
        </p:nvSpPr>
        <p:spPr>
          <a:xfrm>
            <a:off x="457200" y="1463040"/>
            <a:ext cx="11277600" cy="640080"/>
          </a:xfrm>
          <a:prstGeom prst="rect">
            <a:avLst/>
          </a:prstGeom>
          <a:noFill/>
        </p:spPr>
        <p:txBody>
          <a:bodyPr wrap="square">
            <a:spAutoFit/>
          </a:bodyPr>
          <a:lstStyle/>
          <a:p>
            <a:r>
              <a:rPr sz="1600" b="0">
                <a:solidFill>
                  <a:srgbClr val="C7C9CB"/>
                </a:solidFill>
                <a:latin typeface="Inter"/>
              </a:rPr>
              <a:t>Digital tools enhance startup funding success significantly</a:t>
            </a:r>
          </a:p>
        </p:txBody>
      </p:sp>
      <p:sp>
        <p:nvSpPr>
          <p:cNvPr id="4" name="Rounded Rectangle 3"/>
          <p:cNvSpPr/>
          <p:nvPr/>
        </p:nvSpPr>
        <p:spPr>
          <a:xfrm>
            <a:off x="457200" y="2217420"/>
            <a:ext cx="5524500" cy="4183380"/>
          </a:xfrm>
          <a:prstGeom prst="roundRect">
            <a:avLst/>
          </a:prstGeom>
          <a:solidFill>
            <a:srgbClr val="14161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2217420"/>
            <a:ext cx="5524500" cy="2510028"/>
          </a:xfrm>
          <a:prstGeom prst="rect">
            <a:avLst/>
          </a:prstGeom>
          <a:noFill/>
        </p:spPr>
        <p:txBody>
          <a:bodyPr wrap="square" anchor="ctr">
            <a:spAutoFit/>
          </a:bodyPr>
          <a:lstStyle/>
          <a:p>
            <a:pPr algn="ctr"/>
            <a:r>
              <a:rPr sz="4000" b="1">
                <a:solidFill>
                  <a:srgbClr val="2563EB"/>
                </a:solidFill>
                <a:latin typeface="Inter"/>
              </a:rPr>
              <a:t>30%</a:t>
            </a:r>
          </a:p>
        </p:txBody>
      </p:sp>
      <p:sp>
        <p:nvSpPr>
          <p:cNvPr id="6" name="TextBox 5"/>
          <p:cNvSpPr txBox="1"/>
          <p:nvPr/>
        </p:nvSpPr>
        <p:spPr>
          <a:xfrm>
            <a:off x="457200" y="4727448"/>
            <a:ext cx="5524500" cy="1673352"/>
          </a:xfrm>
          <a:prstGeom prst="rect">
            <a:avLst/>
          </a:prstGeom>
          <a:noFill/>
        </p:spPr>
        <p:txBody>
          <a:bodyPr wrap="square" anchor="t">
            <a:spAutoFit/>
          </a:bodyPr>
          <a:lstStyle/>
          <a:p>
            <a:pPr algn="ctr"/>
            <a:r>
              <a:rPr sz="1200" b="0">
                <a:solidFill>
                  <a:srgbClr val="C7C9CB"/>
                </a:solidFill>
                <a:latin typeface="Inter"/>
              </a:rPr>
              <a:t>Funding Success Rate</a:t>
            </a:r>
          </a:p>
        </p:txBody>
      </p:sp>
      <p:sp>
        <p:nvSpPr>
          <p:cNvPr id="7" name="Rounded Rectangle 6"/>
          <p:cNvSpPr/>
          <p:nvPr/>
        </p:nvSpPr>
        <p:spPr>
          <a:xfrm>
            <a:off x="6210300" y="2217420"/>
            <a:ext cx="5524500" cy="4183380"/>
          </a:xfrm>
          <a:prstGeom prst="roundRect">
            <a:avLst/>
          </a:prstGeom>
          <a:solidFill>
            <a:srgbClr val="14161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10300" y="2217420"/>
            <a:ext cx="5524500" cy="2510028"/>
          </a:xfrm>
          <a:prstGeom prst="rect">
            <a:avLst/>
          </a:prstGeom>
          <a:noFill/>
        </p:spPr>
        <p:txBody>
          <a:bodyPr wrap="square" anchor="ctr">
            <a:spAutoFit/>
          </a:bodyPr>
          <a:lstStyle/>
          <a:p>
            <a:pPr algn="ctr"/>
            <a:r>
              <a:rPr sz="4000" b="1">
                <a:solidFill>
                  <a:srgbClr val="2563EB"/>
                </a:solidFill>
                <a:latin typeface="Inter"/>
              </a:rPr>
              <a:t>25%</a:t>
            </a:r>
          </a:p>
        </p:txBody>
      </p:sp>
      <p:sp>
        <p:nvSpPr>
          <p:cNvPr id="9" name="TextBox 8"/>
          <p:cNvSpPr txBox="1"/>
          <p:nvPr/>
        </p:nvSpPr>
        <p:spPr>
          <a:xfrm>
            <a:off x="6210300" y="4727448"/>
            <a:ext cx="5524500" cy="1673352"/>
          </a:xfrm>
          <a:prstGeom prst="rect">
            <a:avLst/>
          </a:prstGeom>
          <a:noFill/>
        </p:spPr>
        <p:txBody>
          <a:bodyPr wrap="square" anchor="t">
            <a:spAutoFit/>
          </a:bodyPr>
          <a:lstStyle/>
          <a:p>
            <a:pPr algn="ctr"/>
            <a:r>
              <a:rPr sz="1200" b="0">
                <a:solidFill>
                  <a:srgbClr val="C7C9CB"/>
                </a:solidFill>
                <a:latin typeface="Inter"/>
              </a:rPr>
              <a:t>Market CAGR</a:t>
            </a:r>
          </a:p>
        </p:txBody>
      </p:sp>
      <p:sp>
        <p:nvSpPr>
          <p:cNvPr id="10" name="TextBox 9"/>
          <p:cNvSpPr txBox="1"/>
          <p:nvPr/>
        </p:nvSpPr>
        <p:spPr>
          <a:xfrm>
            <a:off x="10820400" y="6492240"/>
            <a:ext cx="914400" cy="274320"/>
          </a:xfrm>
          <a:prstGeom prst="rect">
            <a:avLst/>
          </a:prstGeom>
          <a:noFill/>
        </p:spPr>
        <p:txBody>
          <a:bodyPr wrap="square">
            <a:spAutoFit/>
          </a:bodyPr>
          <a:lstStyle/>
          <a:p>
            <a:pPr algn="r"/>
            <a:r>
              <a:rPr sz="900" b="0">
                <a:solidFill>
                  <a:srgbClr val="9EA0A2"/>
                </a:solidFill>
                <a:latin typeface="Inter"/>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457200" y="457200"/>
            <a:ext cx="11277600" cy="1005840"/>
          </a:xfrm>
          <a:prstGeom prst="rect">
            <a:avLst/>
          </a:prstGeom>
          <a:noFill/>
        </p:spPr>
        <p:txBody>
          <a:bodyPr wrap="square">
            <a:spAutoFit/>
          </a:bodyPr>
          <a:lstStyle/>
          <a:p>
            <a:r>
              <a:rPr sz="3200" b="1">
                <a:solidFill>
                  <a:srgbClr val="F8FAFC"/>
                </a:solidFill>
                <a:latin typeface="Inter"/>
              </a:rPr>
              <a:t>60% of Founders Enhance Problem-Solving</a:t>
            </a:r>
          </a:p>
        </p:txBody>
      </p:sp>
      <p:sp>
        <p:nvSpPr>
          <p:cNvPr id="3" name="TextBox 2"/>
          <p:cNvSpPr txBox="1"/>
          <p:nvPr/>
        </p:nvSpPr>
        <p:spPr>
          <a:xfrm>
            <a:off x="457200" y="1463040"/>
            <a:ext cx="11277600" cy="640080"/>
          </a:xfrm>
          <a:prstGeom prst="rect">
            <a:avLst/>
          </a:prstGeom>
          <a:noFill/>
        </p:spPr>
        <p:txBody>
          <a:bodyPr wrap="square">
            <a:spAutoFit/>
          </a:bodyPr>
          <a:lstStyle/>
          <a:p>
            <a:r>
              <a:rPr sz="1600" b="0">
                <a:solidFill>
                  <a:srgbClr val="C7C9CB"/>
                </a:solidFill>
                <a:latin typeface="Inter"/>
              </a:rPr>
              <a:t>Real-time collaboration tools significantly boost startup effectiveness</a:t>
            </a:r>
          </a:p>
        </p:txBody>
      </p:sp>
      <p:sp>
        <p:nvSpPr>
          <p:cNvPr id="4" name="Rounded Rectangle 3"/>
          <p:cNvSpPr/>
          <p:nvPr/>
        </p:nvSpPr>
        <p:spPr>
          <a:xfrm>
            <a:off x="457200" y="2217420"/>
            <a:ext cx="11277600" cy="4183380"/>
          </a:xfrm>
          <a:prstGeom prst="roundRect">
            <a:avLst/>
          </a:prstGeom>
          <a:solidFill>
            <a:srgbClr val="14161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2217420"/>
            <a:ext cx="11277600" cy="2510028"/>
          </a:xfrm>
          <a:prstGeom prst="rect">
            <a:avLst/>
          </a:prstGeom>
          <a:noFill/>
        </p:spPr>
        <p:txBody>
          <a:bodyPr wrap="square" anchor="ctr">
            <a:spAutoFit/>
          </a:bodyPr>
          <a:lstStyle/>
          <a:p>
            <a:pPr algn="ctr"/>
            <a:r>
              <a:rPr sz="4000" b="1">
                <a:solidFill>
                  <a:srgbClr val="2563EB"/>
                </a:solidFill>
                <a:latin typeface="Inter"/>
              </a:rPr>
              <a:t>60%</a:t>
            </a:r>
          </a:p>
        </p:txBody>
      </p:sp>
      <p:sp>
        <p:nvSpPr>
          <p:cNvPr id="6" name="TextBox 5"/>
          <p:cNvSpPr txBox="1"/>
          <p:nvPr/>
        </p:nvSpPr>
        <p:spPr>
          <a:xfrm>
            <a:off x="457200" y="4727448"/>
            <a:ext cx="11277600" cy="1673352"/>
          </a:xfrm>
          <a:prstGeom prst="rect">
            <a:avLst/>
          </a:prstGeom>
          <a:noFill/>
        </p:spPr>
        <p:txBody>
          <a:bodyPr wrap="square" anchor="t">
            <a:spAutoFit/>
          </a:bodyPr>
          <a:lstStyle/>
          <a:p>
            <a:pPr algn="ctr"/>
            <a:r>
              <a:rPr sz="1200" b="0">
                <a:solidFill>
                  <a:srgbClr val="C7C9CB"/>
                </a:solidFill>
                <a:latin typeface="Inter"/>
              </a:rPr>
              <a:t>Report Improvement</a:t>
            </a:r>
          </a:p>
        </p:txBody>
      </p:sp>
      <p:sp>
        <p:nvSpPr>
          <p:cNvPr id="7" name="TextBox 6"/>
          <p:cNvSpPr txBox="1"/>
          <p:nvPr/>
        </p:nvSpPr>
        <p:spPr>
          <a:xfrm>
            <a:off x="10820400" y="6492240"/>
            <a:ext cx="914400" cy="274320"/>
          </a:xfrm>
          <a:prstGeom prst="rect">
            <a:avLst/>
          </a:prstGeom>
          <a:noFill/>
        </p:spPr>
        <p:txBody>
          <a:bodyPr wrap="square">
            <a:spAutoFit/>
          </a:bodyPr>
          <a:lstStyle/>
          <a:p>
            <a:pPr algn="r"/>
            <a:r>
              <a:rPr sz="900" b="0">
                <a:solidFill>
                  <a:srgbClr val="9EA0A2"/>
                </a:solidFill>
                <a:latin typeface="Inter"/>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457200" y="457200"/>
            <a:ext cx="11277600" cy="1005840"/>
          </a:xfrm>
          <a:prstGeom prst="rect">
            <a:avLst/>
          </a:prstGeom>
          <a:noFill/>
        </p:spPr>
        <p:txBody>
          <a:bodyPr wrap="square">
            <a:spAutoFit/>
          </a:bodyPr>
          <a:lstStyle/>
          <a:p>
            <a:r>
              <a:rPr sz="3200" b="1">
                <a:solidFill>
                  <a:srgbClr val="F8FAFC"/>
                </a:solidFill>
                <a:latin typeface="Inter"/>
              </a:rPr>
              <a:t>45% of Founders Struggle with Pitch Decks</a:t>
            </a:r>
          </a:p>
        </p:txBody>
      </p:sp>
      <p:sp>
        <p:nvSpPr>
          <p:cNvPr id="3" name="TextBox 2"/>
          <p:cNvSpPr txBox="1"/>
          <p:nvPr/>
        </p:nvSpPr>
        <p:spPr>
          <a:xfrm>
            <a:off x="457200" y="1463040"/>
            <a:ext cx="11277600" cy="640080"/>
          </a:xfrm>
          <a:prstGeom prst="rect">
            <a:avLst/>
          </a:prstGeom>
          <a:noFill/>
        </p:spPr>
        <p:txBody>
          <a:bodyPr wrap="square">
            <a:spAutoFit/>
          </a:bodyPr>
          <a:lstStyle/>
          <a:p>
            <a:r>
              <a:rPr sz="1600" b="0">
                <a:solidFill>
                  <a:srgbClr val="C7C9CB"/>
                </a:solidFill>
                <a:latin typeface="Inter"/>
              </a:rPr>
              <a:t>Real-time solutions to enhance pitch deck effectiveness</a:t>
            </a:r>
          </a:p>
        </p:txBody>
      </p:sp>
      <p:sp>
        <p:nvSpPr>
          <p:cNvPr id="4" name="Rounded Rectangle 3"/>
          <p:cNvSpPr/>
          <p:nvPr/>
        </p:nvSpPr>
        <p:spPr>
          <a:xfrm>
            <a:off x="457200" y="2217420"/>
            <a:ext cx="11277600" cy="4183380"/>
          </a:xfrm>
          <a:prstGeom prst="roundRect">
            <a:avLst/>
          </a:prstGeom>
          <a:solidFill>
            <a:srgbClr val="14161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2217420"/>
            <a:ext cx="11277600" cy="2510028"/>
          </a:xfrm>
          <a:prstGeom prst="rect">
            <a:avLst/>
          </a:prstGeom>
          <a:noFill/>
        </p:spPr>
        <p:txBody>
          <a:bodyPr wrap="square" anchor="ctr">
            <a:spAutoFit/>
          </a:bodyPr>
          <a:lstStyle/>
          <a:p>
            <a:pPr algn="ctr"/>
            <a:r>
              <a:rPr sz="4000" b="1">
                <a:solidFill>
                  <a:srgbClr val="2563EB"/>
                </a:solidFill>
                <a:latin typeface="Inter"/>
              </a:rPr>
              <a:t>45%</a:t>
            </a:r>
          </a:p>
        </p:txBody>
      </p:sp>
      <p:sp>
        <p:nvSpPr>
          <p:cNvPr id="6" name="TextBox 5"/>
          <p:cNvSpPr txBox="1"/>
          <p:nvPr/>
        </p:nvSpPr>
        <p:spPr>
          <a:xfrm>
            <a:off x="457200" y="4727448"/>
            <a:ext cx="11277600" cy="1673352"/>
          </a:xfrm>
          <a:prstGeom prst="rect">
            <a:avLst/>
          </a:prstGeom>
          <a:noFill/>
        </p:spPr>
        <p:txBody>
          <a:bodyPr wrap="square" anchor="t">
            <a:spAutoFit/>
          </a:bodyPr>
          <a:lstStyle/>
          <a:p>
            <a:pPr algn="ctr"/>
            <a:r>
              <a:rPr sz="1200" b="0">
                <a:solidFill>
                  <a:srgbClr val="C7C9CB"/>
                </a:solidFill>
                <a:latin typeface="Inter"/>
              </a:rPr>
              <a:t>of founders face challenges</a:t>
            </a:r>
          </a:p>
        </p:txBody>
      </p:sp>
      <p:sp>
        <p:nvSpPr>
          <p:cNvPr id="7" name="TextBox 6"/>
          <p:cNvSpPr txBox="1"/>
          <p:nvPr/>
        </p:nvSpPr>
        <p:spPr>
          <a:xfrm>
            <a:off x="10820400" y="6492240"/>
            <a:ext cx="914400" cy="274320"/>
          </a:xfrm>
          <a:prstGeom prst="rect">
            <a:avLst/>
          </a:prstGeom>
          <a:noFill/>
        </p:spPr>
        <p:txBody>
          <a:bodyPr wrap="square">
            <a:spAutoFit/>
          </a:bodyPr>
          <a:lstStyle/>
          <a:p>
            <a:pPr algn="r"/>
            <a:r>
              <a:rPr sz="900" b="0">
                <a:solidFill>
                  <a:srgbClr val="9EA0A2"/>
                </a:solidFill>
                <a:latin typeface="Inter"/>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457200" y="457200"/>
            <a:ext cx="11277600" cy="1005840"/>
          </a:xfrm>
          <a:prstGeom prst="rect">
            <a:avLst/>
          </a:prstGeom>
          <a:noFill/>
        </p:spPr>
        <p:txBody>
          <a:bodyPr wrap="square">
            <a:spAutoFit/>
          </a:bodyPr>
          <a:lstStyle/>
          <a:p>
            <a:r>
              <a:rPr sz="3200" b="1">
                <a:solidFill>
                  <a:srgbClr val="F8FAFC"/>
                </a:solidFill>
                <a:latin typeface="Inter"/>
              </a:rPr>
              <a:t>Founders OS Market Grows at 25% CAGR</a:t>
            </a:r>
          </a:p>
        </p:txBody>
      </p:sp>
      <p:sp>
        <p:nvSpPr>
          <p:cNvPr id="3" name="TextBox 2"/>
          <p:cNvSpPr txBox="1"/>
          <p:nvPr/>
        </p:nvSpPr>
        <p:spPr>
          <a:xfrm>
            <a:off x="457200" y="1463040"/>
            <a:ext cx="11277600" cy="640080"/>
          </a:xfrm>
          <a:prstGeom prst="rect">
            <a:avLst/>
          </a:prstGeom>
          <a:noFill/>
        </p:spPr>
        <p:txBody>
          <a:bodyPr wrap="square">
            <a:spAutoFit/>
          </a:bodyPr>
          <a:lstStyle/>
          <a:p>
            <a:r>
              <a:rPr sz="1600" b="0">
                <a:solidFill>
                  <a:srgbClr val="C7C9CB"/>
                </a:solidFill>
                <a:latin typeface="Inter"/>
              </a:rPr>
              <a:t>Collaborative tools drive startup ecosystem expansion</a:t>
            </a:r>
          </a:p>
        </p:txBody>
      </p:sp>
      <p:sp>
        <p:nvSpPr>
          <p:cNvPr id="4" name="Rounded Rectangle 3"/>
          <p:cNvSpPr/>
          <p:nvPr/>
        </p:nvSpPr>
        <p:spPr>
          <a:xfrm>
            <a:off x="457200" y="2217420"/>
            <a:ext cx="11277600" cy="4183380"/>
          </a:xfrm>
          <a:prstGeom prst="roundRect">
            <a:avLst/>
          </a:prstGeom>
          <a:solidFill>
            <a:srgbClr val="14161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2217420"/>
            <a:ext cx="11277600" cy="2510028"/>
          </a:xfrm>
          <a:prstGeom prst="rect">
            <a:avLst/>
          </a:prstGeom>
          <a:noFill/>
        </p:spPr>
        <p:txBody>
          <a:bodyPr wrap="square" anchor="ctr">
            <a:spAutoFit/>
          </a:bodyPr>
          <a:lstStyle/>
          <a:p>
            <a:pPr algn="ctr"/>
            <a:r>
              <a:rPr sz="4000" b="1">
                <a:solidFill>
                  <a:srgbClr val="2563EB"/>
                </a:solidFill>
                <a:latin typeface="Inter"/>
              </a:rPr>
              <a:t>25%</a:t>
            </a:r>
          </a:p>
        </p:txBody>
      </p:sp>
      <p:sp>
        <p:nvSpPr>
          <p:cNvPr id="6" name="TextBox 5"/>
          <p:cNvSpPr txBox="1"/>
          <p:nvPr/>
        </p:nvSpPr>
        <p:spPr>
          <a:xfrm>
            <a:off x="457200" y="4727448"/>
            <a:ext cx="11277600" cy="1673352"/>
          </a:xfrm>
          <a:prstGeom prst="rect">
            <a:avLst/>
          </a:prstGeom>
          <a:noFill/>
        </p:spPr>
        <p:txBody>
          <a:bodyPr wrap="square" anchor="t">
            <a:spAutoFit/>
          </a:bodyPr>
          <a:lstStyle/>
          <a:p>
            <a:pPr algn="ctr"/>
            <a:r>
              <a:rPr sz="1200" b="0">
                <a:solidFill>
                  <a:srgbClr val="C7C9CB"/>
                </a:solidFill>
                <a:latin typeface="Inter"/>
              </a:rPr>
              <a:t>CAGR</a:t>
            </a:r>
          </a:p>
        </p:txBody>
      </p:sp>
      <p:sp>
        <p:nvSpPr>
          <p:cNvPr id="7" name="TextBox 6"/>
          <p:cNvSpPr txBox="1"/>
          <p:nvPr/>
        </p:nvSpPr>
        <p:spPr>
          <a:xfrm>
            <a:off x="10820400" y="6492240"/>
            <a:ext cx="914400" cy="274320"/>
          </a:xfrm>
          <a:prstGeom prst="rect">
            <a:avLst/>
          </a:prstGeom>
          <a:noFill/>
        </p:spPr>
        <p:txBody>
          <a:bodyPr wrap="square">
            <a:spAutoFit/>
          </a:bodyPr>
          <a:lstStyle/>
          <a:p>
            <a:pPr algn="r"/>
            <a:r>
              <a:rPr sz="900" b="0">
                <a:solidFill>
                  <a:srgbClr val="9EA0A2"/>
                </a:solidFill>
                <a:latin typeface="Inter"/>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457200" y="457200"/>
            <a:ext cx="11277600" cy="1005840"/>
          </a:xfrm>
          <a:prstGeom prst="rect">
            <a:avLst/>
          </a:prstGeom>
          <a:noFill/>
        </p:spPr>
        <p:txBody>
          <a:bodyPr wrap="square">
            <a:spAutoFit/>
          </a:bodyPr>
          <a:lstStyle/>
          <a:p>
            <a:r>
              <a:rPr sz="3200" b="1">
                <a:solidFill>
                  <a:srgbClr val="F8FAFC"/>
                </a:solidFill>
                <a:latin typeface="Inter"/>
              </a:rPr>
              <a:t>40% Increase in Investor Engagement</a:t>
            </a:r>
          </a:p>
        </p:txBody>
      </p:sp>
      <p:sp>
        <p:nvSpPr>
          <p:cNvPr id="3" name="TextBox 2"/>
          <p:cNvSpPr txBox="1"/>
          <p:nvPr/>
        </p:nvSpPr>
        <p:spPr>
          <a:xfrm>
            <a:off x="457200" y="1463040"/>
            <a:ext cx="11277600" cy="640080"/>
          </a:xfrm>
          <a:prstGeom prst="rect">
            <a:avLst/>
          </a:prstGeom>
          <a:noFill/>
        </p:spPr>
        <p:txBody>
          <a:bodyPr wrap="square">
            <a:spAutoFit/>
          </a:bodyPr>
          <a:lstStyle/>
          <a:p>
            <a:r>
              <a:rPr sz="1600" b="0">
                <a:solidFill>
                  <a:srgbClr val="C7C9CB"/>
                </a:solidFill>
                <a:latin typeface="Inter"/>
              </a:rPr>
              <a:t>Founders OS enhances startup connections with investors</a:t>
            </a:r>
          </a:p>
        </p:txBody>
      </p:sp>
      <p:sp>
        <p:nvSpPr>
          <p:cNvPr id="4" name="Rounded Rectangle 3"/>
          <p:cNvSpPr/>
          <p:nvPr/>
        </p:nvSpPr>
        <p:spPr>
          <a:xfrm>
            <a:off x="457200" y="2217420"/>
            <a:ext cx="11277600" cy="4183380"/>
          </a:xfrm>
          <a:prstGeom prst="roundRect">
            <a:avLst/>
          </a:prstGeom>
          <a:solidFill>
            <a:srgbClr val="14161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2217420"/>
            <a:ext cx="11277600" cy="2510028"/>
          </a:xfrm>
          <a:prstGeom prst="rect">
            <a:avLst/>
          </a:prstGeom>
          <a:noFill/>
        </p:spPr>
        <p:txBody>
          <a:bodyPr wrap="square" anchor="ctr">
            <a:spAutoFit/>
          </a:bodyPr>
          <a:lstStyle/>
          <a:p>
            <a:pPr algn="ctr"/>
            <a:r>
              <a:rPr sz="4000" b="1">
                <a:solidFill>
                  <a:srgbClr val="2563EB"/>
                </a:solidFill>
                <a:latin typeface="Inter"/>
              </a:rPr>
              <a:t>40%</a:t>
            </a:r>
          </a:p>
        </p:txBody>
      </p:sp>
      <p:sp>
        <p:nvSpPr>
          <p:cNvPr id="6" name="TextBox 5"/>
          <p:cNvSpPr txBox="1"/>
          <p:nvPr/>
        </p:nvSpPr>
        <p:spPr>
          <a:xfrm>
            <a:off x="457200" y="4727448"/>
            <a:ext cx="11277600" cy="1673352"/>
          </a:xfrm>
          <a:prstGeom prst="rect">
            <a:avLst/>
          </a:prstGeom>
          <a:noFill/>
        </p:spPr>
        <p:txBody>
          <a:bodyPr wrap="square" anchor="t">
            <a:spAutoFit/>
          </a:bodyPr>
          <a:lstStyle/>
          <a:p>
            <a:pPr algn="ctr"/>
            <a:r>
              <a:rPr sz="1200" b="0">
                <a:solidFill>
                  <a:srgbClr val="C7C9CB"/>
                </a:solidFill>
                <a:latin typeface="Inter"/>
              </a:rPr>
              <a:t>Engagement Increase</a:t>
            </a:r>
          </a:p>
        </p:txBody>
      </p:sp>
      <p:sp>
        <p:nvSpPr>
          <p:cNvPr id="7" name="TextBox 6"/>
          <p:cNvSpPr txBox="1"/>
          <p:nvPr/>
        </p:nvSpPr>
        <p:spPr>
          <a:xfrm>
            <a:off x="10820400" y="6492240"/>
            <a:ext cx="914400" cy="274320"/>
          </a:xfrm>
          <a:prstGeom prst="rect">
            <a:avLst/>
          </a:prstGeom>
          <a:noFill/>
        </p:spPr>
        <p:txBody>
          <a:bodyPr wrap="square">
            <a:spAutoFit/>
          </a:bodyPr>
          <a:lstStyle/>
          <a:p>
            <a:pPr algn="r"/>
            <a:r>
              <a:rPr sz="900" b="0">
                <a:solidFill>
                  <a:srgbClr val="9EA0A2"/>
                </a:solidFill>
                <a:latin typeface="Inter"/>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457200" y="457200"/>
            <a:ext cx="11277600" cy="1005840"/>
          </a:xfrm>
          <a:prstGeom prst="rect">
            <a:avLst/>
          </a:prstGeom>
          <a:noFill/>
        </p:spPr>
        <p:txBody>
          <a:bodyPr wrap="square">
            <a:spAutoFit/>
          </a:bodyPr>
          <a:lstStyle/>
          <a:p>
            <a:r>
              <a:rPr sz="3200" b="1">
                <a:solidFill>
                  <a:srgbClr val="F8FAFC"/>
                </a:solidFill>
                <a:latin typeface="Inter"/>
              </a:rPr>
              <a:t>Iterative Design and Real-Time Solutions</a:t>
            </a:r>
          </a:p>
        </p:txBody>
      </p:sp>
      <p:sp>
        <p:nvSpPr>
          <p:cNvPr id="3" name="TextBox 2"/>
          <p:cNvSpPr txBox="1"/>
          <p:nvPr/>
        </p:nvSpPr>
        <p:spPr>
          <a:xfrm>
            <a:off x="457200" y="1463040"/>
            <a:ext cx="11277600" cy="640080"/>
          </a:xfrm>
          <a:prstGeom prst="rect">
            <a:avLst/>
          </a:prstGeom>
          <a:noFill/>
        </p:spPr>
        <p:txBody>
          <a:bodyPr wrap="square">
            <a:spAutoFit/>
          </a:bodyPr>
          <a:lstStyle/>
          <a:p>
            <a:r>
              <a:rPr sz="1600" b="0">
                <a:solidFill>
                  <a:srgbClr val="C7C9CB"/>
                </a:solidFill>
                <a:latin typeface="Inter"/>
              </a:rPr>
              <a:t>Empowering Founders to Overcome Pitch Deck Challenges</a:t>
            </a:r>
          </a:p>
        </p:txBody>
      </p:sp>
      <p:sp>
        <p:nvSpPr>
          <p:cNvPr id="4" name="TextBox 3"/>
          <p:cNvSpPr txBox="1"/>
          <p:nvPr/>
        </p:nvSpPr>
        <p:spPr>
          <a:xfrm>
            <a:off x="457200" y="457200"/>
            <a:ext cx="11277600" cy="1005840"/>
          </a:xfrm>
          <a:prstGeom prst="rect">
            <a:avLst/>
          </a:prstGeom>
          <a:noFill/>
        </p:spPr>
        <p:txBody>
          <a:bodyPr wrap="square">
            <a:spAutoFit/>
          </a:bodyPr>
          <a:lstStyle/>
          <a:p>
            <a:r>
              <a:rPr sz="3200" b="1">
                <a:solidFill>
                  <a:srgbClr val="F8FAFC"/>
                </a:solidFill>
                <a:latin typeface="Inter"/>
              </a:rPr>
              <a:t>Iterative Design and Real-Time Solutions</a:t>
            </a:r>
          </a:p>
        </p:txBody>
      </p:sp>
      <p:sp>
        <p:nvSpPr>
          <p:cNvPr id="5" name="TextBox 4"/>
          <p:cNvSpPr txBox="1"/>
          <p:nvPr/>
        </p:nvSpPr>
        <p:spPr>
          <a:xfrm>
            <a:off x="457200" y="1463040"/>
            <a:ext cx="11277600" cy="640080"/>
          </a:xfrm>
          <a:prstGeom prst="rect">
            <a:avLst/>
          </a:prstGeom>
          <a:noFill/>
        </p:spPr>
        <p:txBody>
          <a:bodyPr wrap="square">
            <a:spAutoFit/>
          </a:bodyPr>
          <a:lstStyle/>
          <a:p>
            <a:r>
              <a:rPr sz="1600" b="0">
                <a:solidFill>
                  <a:srgbClr val="C7C9CB"/>
                </a:solidFill>
                <a:latin typeface="Inter"/>
              </a:rPr>
              <a:t>Empowering Founders to Overcome Pitch Deck Challenges</a:t>
            </a:r>
          </a:p>
        </p:txBody>
      </p:sp>
      <p:sp>
        <p:nvSpPr>
          <p:cNvPr id="6" name="TextBox 5"/>
          <p:cNvSpPr txBox="1"/>
          <p:nvPr/>
        </p:nvSpPr>
        <p:spPr>
          <a:xfrm>
            <a:off x="457200" y="2217420"/>
            <a:ext cx="11277600" cy="4183380"/>
          </a:xfrm>
          <a:prstGeom prst="rect">
            <a:avLst/>
          </a:prstGeom>
          <a:noFill/>
        </p:spPr>
        <p:txBody>
          <a:bodyPr wrap="square">
            <a:spAutoFit/>
          </a:bodyPr>
          <a:lstStyle/>
          <a:p>
            <a:pPr>
              <a:spcAft>
                <a:spcPts val="800"/>
              </a:spcAft>
            </a:pPr>
            <a:r>
              <a:rPr sz="1800" b="0">
                <a:solidFill>
                  <a:srgbClr val="F8FAFC"/>
                </a:solidFill>
                <a:latin typeface="Inter"/>
              </a:rPr>
              <a:t>• Facilitates rapid iterations for effective pitch decks</a:t>
            </a:r>
          </a:p>
          <a:p>
            <a:pPr>
              <a:spcAft>
                <a:spcPts val="800"/>
              </a:spcAft>
            </a:pPr>
            <a:r>
              <a:rPr sz="1800" b="0">
                <a:solidFill>
                  <a:srgbClr val="F8FAFC"/>
                </a:solidFill>
                <a:latin typeface="Inter"/>
              </a:rPr>
              <a:t>• ,'Addresses real-time problems with collaborative tools','Enhances feedback loops for continuous improvement'</a:t>
            </a:r>
          </a:p>
        </p:txBody>
      </p:sp>
      <p:sp>
        <p:nvSpPr>
          <p:cNvPr id="7" name="TextBox 6"/>
          <p:cNvSpPr txBox="1"/>
          <p:nvPr/>
        </p:nvSpPr>
        <p:spPr>
          <a:xfrm>
            <a:off x="10820400" y="6492240"/>
            <a:ext cx="914400" cy="274320"/>
          </a:xfrm>
          <a:prstGeom prst="rect">
            <a:avLst/>
          </a:prstGeom>
          <a:noFill/>
        </p:spPr>
        <p:txBody>
          <a:bodyPr wrap="square">
            <a:spAutoFit/>
          </a:bodyPr>
          <a:lstStyle/>
          <a:p>
            <a:pPr algn="r"/>
            <a:r>
              <a:rPr sz="900" b="0">
                <a:solidFill>
                  <a:srgbClr val="9EA0A2"/>
                </a:solidFill>
                <a:latin typeface="Inter"/>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457200" y="5394960"/>
            <a:ext cx="11277600" cy="640080"/>
          </a:xfrm>
          <a:prstGeom prst="rect">
            <a:avLst/>
          </a:prstGeom>
          <a:noFill/>
        </p:spPr>
        <p:txBody>
          <a:bodyPr wrap="square">
            <a:spAutoFit/>
          </a:bodyPr>
          <a:lstStyle/>
          <a:p>
            <a:pPr algn="l"/>
            <a:r>
              <a:rPr sz="2400" b="1">
                <a:solidFill>
                  <a:srgbClr val="F8FAFC"/>
                </a:solidFill>
                <a:latin typeface="Inter"/>
              </a:rPr>
              <a:t>Building a Collaborative Founder Community</a:t>
            </a:r>
          </a:p>
        </p:txBody>
      </p:sp>
      <p:sp>
        <p:nvSpPr>
          <p:cNvPr id="3" name="TextBox 2"/>
          <p:cNvSpPr txBox="1"/>
          <p:nvPr/>
        </p:nvSpPr>
        <p:spPr>
          <a:xfrm>
            <a:off x="457200" y="6035040"/>
            <a:ext cx="11277600" cy="457200"/>
          </a:xfrm>
          <a:prstGeom prst="rect">
            <a:avLst/>
          </a:prstGeom>
          <a:noFill/>
        </p:spPr>
        <p:txBody>
          <a:bodyPr wrap="square">
            <a:spAutoFit/>
          </a:bodyPr>
          <a:lstStyle/>
          <a:p>
            <a:pPr algn="l"/>
            <a:r>
              <a:rPr sz="1400" b="0">
                <a:solidFill>
                  <a:srgbClr val="C7C9CB"/>
                </a:solidFill>
                <a:latin typeface="Inter"/>
              </a:rPr>
              <a:t>Fostering connections for shared resources and support</a:t>
            </a:r>
          </a:p>
        </p:txBody>
      </p:sp>
      <p:sp>
        <p:nvSpPr>
          <p:cNvPr id="4" name="TextBox 3"/>
          <p:cNvSpPr txBox="1"/>
          <p:nvPr/>
        </p:nvSpPr>
        <p:spPr>
          <a:xfrm>
            <a:off x="10820400" y="6492240"/>
            <a:ext cx="914400" cy="274320"/>
          </a:xfrm>
          <a:prstGeom prst="rect">
            <a:avLst/>
          </a:prstGeom>
          <a:noFill/>
        </p:spPr>
        <p:txBody>
          <a:bodyPr wrap="square">
            <a:spAutoFit/>
          </a:bodyPr>
          <a:lstStyle/>
          <a:p>
            <a:pPr algn="r"/>
            <a:r>
              <a:rPr sz="900" b="0">
                <a:solidFill>
                  <a:srgbClr val="9EA0A2"/>
                </a:solidFill>
                <a:latin typeface="Inter"/>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914400" y="1828800"/>
            <a:ext cx="10363200" cy="3200400"/>
          </a:xfrm>
          <a:prstGeom prst="rect">
            <a:avLst/>
          </a:prstGeom>
          <a:noFill/>
        </p:spPr>
        <p:txBody>
          <a:bodyPr wrap="square" anchor="ctr">
            <a:spAutoFit/>
          </a:bodyPr>
          <a:lstStyle/>
          <a:p>
            <a:pPr algn="ctr"/>
            <a:r>
              <a:rPr sz="2800" b="0">
                <a:solidFill>
                  <a:srgbClr val="F8FAFC"/>
                </a:solidFill>
                <a:latin typeface="Inter"/>
              </a:rPr>
              <a:t>“Testimonials from successful founders”</a:t>
            </a:r>
          </a:p>
        </p:txBody>
      </p:sp>
      <p:sp>
        <p:nvSpPr>
          <p:cNvPr id="3" name="TextBox 2"/>
          <p:cNvSpPr txBox="1"/>
          <p:nvPr/>
        </p:nvSpPr>
        <p:spPr>
          <a:xfrm>
            <a:off x="10820400" y="6492240"/>
            <a:ext cx="914400" cy="274320"/>
          </a:xfrm>
          <a:prstGeom prst="rect">
            <a:avLst/>
          </a:prstGeom>
          <a:noFill/>
        </p:spPr>
        <p:txBody>
          <a:bodyPr wrap="square">
            <a:spAutoFit/>
          </a:bodyPr>
          <a:lstStyle/>
          <a:p>
            <a:pPr algn="r"/>
            <a:r>
              <a:rPr sz="900" b="0">
                <a:solidFill>
                  <a:srgbClr val="9EA0A2"/>
                </a:solidFill>
                <a:latin typeface="Inter"/>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extBox 1"/>
          <p:cNvSpPr txBox="1"/>
          <p:nvPr/>
        </p:nvSpPr>
        <p:spPr>
          <a:xfrm>
            <a:off x="457200" y="2194560"/>
            <a:ext cx="11277600" cy="1463040"/>
          </a:xfrm>
          <a:prstGeom prst="rect">
            <a:avLst/>
          </a:prstGeom>
          <a:noFill/>
        </p:spPr>
        <p:txBody>
          <a:bodyPr wrap="square" anchor="ctr">
            <a:spAutoFit/>
          </a:bodyPr>
          <a:lstStyle/>
          <a:p>
            <a:pPr algn="ctr"/>
            <a:r>
              <a:rPr sz="4400" b="1">
                <a:solidFill>
                  <a:srgbClr val="F8FAFC"/>
                </a:solidFill>
                <a:latin typeface="Inter"/>
              </a:rPr>
              <a:t>Join the Founders OS Revolution</a:t>
            </a:r>
          </a:p>
        </p:txBody>
      </p:sp>
      <p:sp>
        <p:nvSpPr>
          <p:cNvPr id="3" name="TextBox 2"/>
          <p:cNvSpPr txBox="1"/>
          <p:nvPr/>
        </p:nvSpPr>
        <p:spPr>
          <a:xfrm>
            <a:off x="457200" y="3749039"/>
            <a:ext cx="11277600" cy="822960"/>
          </a:xfrm>
          <a:prstGeom prst="rect">
            <a:avLst/>
          </a:prstGeom>
          <a:noFill/>
        </p:spPr>
        <p:txBody>
          <a:bodyPr wrap="square">
            <a:spAutoFit/>
          </a:bodyPr>
          <a:lstStyle/>
          <a:p>
            <a:pPr algn="ctr"/>
            <a:r>
              <a:rPr sz="2000" b="0">
                <a:solidFill>
                  <a:srgbClr val="C7C9CB"/>
                </a:solidFill>
                <a:latin typeface="Inter"/>
              </a:rPr>
              <a:t>Embrace a platform designed for startup success</a:t>
            </a:r>
          </a:p>
        </p:txBody>
      </p:sp>
      <p:sp>
        <p:nvSpPr>
          <p:cNvPr id="4" name="TextBox 3"/>
          <p:cNvSpPr txBox="1"/>
          <p:nvPr/>
        </p:nvSpPr>
        <p:spPr>
          <a:xfrm>
            <a:off x="914400" y="4663440"/>
            <a:ext cx="10363200" cy="1463040"/>
          </a:xfrm>
          <a:prstGeom prst="rect">
            <a:avLst/>
          </a:prstGeom>
          <a:noFill/>
        </p:spPr>
        <p:txBody>
          <a:bodyPr wrap="square">
            <a:spAutoFit/>
          </a:bodyPr>
          <a:lstStyle/>
          <a:p>
            <a:pPr algn="ctr"/>
            <a:r>
              <a:rPr sz="1400" b="0">
                <a:solidFill>
                  <a:srgbClr val="9EA0A2"/>
                </a:solidFill>
                <a:latin typeface="Inter"/>
              </a:rPr>
              <a:t>Collaborative tools enhance founder engagement. 30% higher funding success rates reported.</a:t>
            </a:r>
          </a:p>
        </p:txBody>
      </p:sp>
      <p:sp>
        <p:nvSpPr>
          <p:cNvPr id="5" name="TextBox 4"/>
          <p:cNvSpPr txBox="1"/>
          <p:nvPr/>
        </p:nvSpPr>
        <p:spPr>
          <a:xfrm>
            <a:off x="10820400" y="6492240"/>
            <a:ext cx="914400" cy="274320"/>
          </a:xfrm>
          <a:prstGeom prst="rect">
            <a:avLst/>
          </a:prstGeom>
          <a:noFill/>
        </p:spPr>
        <p:txBody>
          <a:bodyPr wrap="square">
            <a:spAutoFit/>
          </a:bodyPr>
          <a:lstStyle/>
          <a:p>
            <a:pPr algn="r"/>
            <a:r>
              <a:rPr sz="900" b="0">
                <a:solidFill>
                  <a:srgbClr val="9EA0A2"/>
                </a:solidFill>
                <a:latin typeface="Inter"/>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 are creating a Founders OS which helps the founder to create pitch decks...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